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1503" autoAdjust="0"/>
  </p:normalViewPr>
  <p:slideViewPr>
    <p:cSldViewPr snapToGrid="0" snapToObjects="1">
      <p:cViewPr varScale="1">
        <p:scale>
          <a:sx n="42" d="100"/>
          <a:sy n="42" d="100"/>
        </p:scale>
        <p:origin x="2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23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1: Classification: from pixels to decisions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2: The route: understand, prepare, compare, decide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3: Same business, different prediction task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4: Binary, multiclass, or multilabel?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5: What label? What location? Which pixels?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6: Models consume representations, not file names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7: The honest model-development loop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8: Choose a shortlist, not a universal winner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9: Logistic regression: a transparent first challenger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10: Decision trees: learn a sequence of questions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11: Random forest versus gradient boosting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12: Today's practical tabular toolkit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13: k-NN and SVM: geometry matters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14: Text baselines are not obsolete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15: Images: engineered features, CNNs, or transformers?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16: Transfer learning: borrow features, learn the task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17: Modern foundation models: useful, not magic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18: What can an algorithm handle for us?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19: Preprocessing depends on the model</a:t>
            </a:r>
          </a:p>
          <a:p>
            <a:endParaRPr dirty="0"/>
          </a:p>
          <a:p>
            <a:r>
              <a:rPr dirty="0"/>
              <a:t>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20: A reusable tabular preprocessing pipeline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21: Text preprocessing: keep the meaning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22: Messy images: audit before you transform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23: Resizing can erase the evidence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24: Pixels need a contract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25: Augmentation: vary the view, preserve the label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26: Segmentation: move the image and mask together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27: The most dangerous shortcut: leakage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28: Rare defects make accuracy deceptive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29: Confusion matrix: name each kind of mistake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30: Precision, recall, F1: different questions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31: Choose thresholds with business costs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32: Ranking is not calibration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33: The error gallery is a diagnostic tool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34: Three use cases, three defensible starting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35: Our Project 2 bridge: classification first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36: Before leaving: defend the whole workflow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37: Sources: algorithms and representations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38: Sources: preparation and trustworthy evaluation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ocs/transformers/tasks/image_classification" TargetMode="External"/><Relationship Id="rId3" Type="http://schemas.openxmlformats.org/officeDocument/2006/relationships/hyperlink" Target="https://scikit-learn.org/stable/modules/ensemble.html" TargetMode="External"/><Relationship Id="rId7" Type="http://schemas.openxmlformats.org/officeDocument/2006/relationships/hyperlink" Target="https://docs.pytorch.org/tutorials/beginner/transfer_learning_tutorial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ghtgbm.readthedocs.io/en/stable/Advanced-Topics.html" TargetMode="External"/><Relationship Id="rId11" Type="http://schemas.openxmlformats.org/officeDocument/2006/relationships/hyperlink" Target="https://docs.pytorch.org/vision/stable/models.html" TargetMode="External"/><Relationship Id="rId5" Type="http://schemas.openxmlformats.org/officeDocument/2006/relationships/hyperlink" Target="https://xgboost.readthedocs.io/en/stable/faq.html" TargetMode="External"/><Relationship Id="rId10" Type="http://schemas.openxmlformats.org/officeDocument/2006/relationships/hyperlink" Target="https://huggingface.co/docs/transformers/tasks/sequence_classification" TargetMode="External"/><Relationship Id="rId4" Type="http://schemas.openxmlformats.org/officeDocument/2006/relationships/hyperlink" Target="https://catboost.ai/docs/en/features/categorical-features" TargetMode="External"/><Relationship Id="rId9" Type="http://schemas.openxmlformats.org/officeDocument/2006/relationships/hyperlink" Target="https://huggingface.co/docs/transformers/model_doc/clip" TargetMode="Externa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feature_extraction.html#text-feature-extraction" TargetMode="External"/><Relationship Id="rId3" Type="http://schemas.openxmlformats.org/officeDocument/2006/relationships/hyperlink" Target="https://scikit-learn.org/stable/common_pitfalls.html" TargetMode="External"/><Relationship Id="rId7" Type="http://schemas.openxmlformats.org/officeDocument/2006/relationships/hyperlink" Target="https://scikit-learn.org/stable/modules/generated/sklearn.linear_model.LogisticRegression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ikit-learn.org/stable/modules/svm.html" TargetMode="External"/><Relationship Id="rId5" Type="http://schemas.openxmlformats.org/officeDocument/2006/relationships/hyperlink" Target="https://scikit-learn.org/stable/modules/calibration.html" TargetMode="External"/><Relationship Id="rId10" Type="http://schemas.openxmlformats.org/officeDocument/2006/relationships/hyperlink" Target="https://docs.pytorch.org/vision/stable/transforms.html" TargetMode="External"/><Relationship Id="rId4" Type="http://schemas.openxmlformats.org/officeDocument/2006/relationships/hyperlink" Target="https://scikit-learn.org/stable/modules/classification_threshold.html" TargetMode="External"/><Relationship Id="rId9" Type="http://schemas.openxmlformats.org/officeDocument/2006/relationships/hyperlink" Target="https://scikit-learn.org/stable/modules/model_evaluation.html#classification-metr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2D3C7"/>
                </a:solidFill>
                <a:latin typeface="Aptos"/>
              </a:defRPr>
            </a:pPr>
            <a:r>
              <a:t>MSBA 265  /  PROJECT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400800" cy="2423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Classification:</a:t>
            </a:r>
          </a:p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from pixels</a:t>
            </a:r>
          </a:p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6080760" cy="11430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DCE8F4"/>
                </a:solidFill>
                <a:latin typeface="Aptos"/>
              </a:defRPr>
            </a:pPr>
            <a:r>
              <a:t>What is it? Which model?</a:t>
            </a:r>
          </a:p>
          <a:p>
            <a:pPr>
              <a:spcAft>
                <a:spcPts val="900"/>
              </a:spcAft>
              <a:defRPr sz="2400" b="0">
                <a:solidFill>
                  <a:srgbClr val="DCE8F4"/>
                </a:solidFill>
                <a:latin typeface="Aptos"/>
              </a:defRPr>
            </a:pPr>
            <a:r>
              <a:t>What preparation? Which mistakes?</a:t>
            </a:r>
          </a:p>
        </p:txBody>
      </p:sp>
      <p:pic>
        <p:nvPicPr>
          <p:cNvPr id="6" name="Picture 5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38597"/>
            <a:ext cx="4343400" cy="23578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4389120"/>
            <a:ext cx="4023360" cy="6400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4535424"/>
            <a:ext cx="36576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PASS   /   REVIEW   /   REJECT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7899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DCE8F4"/>
                </a:solidFill>
                <a:latin typeface="Aptos"/>
              </a:defRPr>
            </a:pPr>
            <a:r>
              <a:t>FOUNDATION LECTURE  |  Original simulated inspection imagery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The route: understand, prepare, compare,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 better classifier starts with a better question—not a bigger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What label and 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What will be available?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Which useful baseline?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Which errors and costs?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the business question connected to every technical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course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Same business, different prediction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The target determines whether the problem is regression or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Predict repair cost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Output: $245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Evaluate: MAE /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Predict defect status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Output: pass / defect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Evaluate: precision /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Route the item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Output: approve / review / reject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Evaluate: operational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S13 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Binary, multiclass, or multilabel?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One label per image is not the same as several labels per image.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BINARY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Exactly one of two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normal OR defective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MULTICLASS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Exactly one of many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scratch OR dent OR stain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MULTILABEL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Several may coexist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scratch AND stain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What label? What location? Which pixels?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Classification, detection, and segmentation answer different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CLASSIFICATION</a:t>
            </a:r>
          </a:p>
        </p:txBody>
      </p:sp>
      <p:pic>
        <p:nvPicPr>
          <p:cNvPr id="8" name="Picture 7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7" y="2670048"/>
            <a:ext cx="3284621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Defective: image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DETECTION</a:t>
            </a:r>
          </a:p>
        </p:txBody>
      </p:sp>
      <p:pic>
        <p:nvPicPr>
          <p:cNvPr id="12" name="Picture 11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49" y="2670048"/>
            <a:ext cx="3284621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Defect: bounding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SEGMENTATION</a:t>
            </a:r>
          </a:p>
        </p:txBody>
      </p:sp>
      <p:pic>
        <p:nvPicPr>
          <p:cNvPr id="16" name="Picture 15" descr="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921" y="2670048"/>
            <a:ext cx="3284621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Defect: pixel mask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6872" y="3090672"/>
            <a:ext cx="265176" cy="0"/>
          </a:xfrm>
          <a:prstGeom prst="line">
            <a:avLst/>
          </a:prstGeom>
          <a:ln w="25400">
            <a:solidFill>
              <a:srgbClr val="C85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42048" y="3090672"/>
            <a:ext cx="0" cy="896112"/>
          </a:xfrm>
          <a:prstGeom prst="line">
            <a:avLst/>
          </a:prstGeom>
          <a:ln w="25400">
            <a:solidFill>
              <a:srgbClr val="C85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976872" y="3986784"/>
            <a:ext cx="265176" cy="0"/>
          </a:xfrm>
          <a:prstGeom prst="line">
            <a:avLst/>
          </a:prstGeom>
          <a:ln w="25400">
            <a:solidFill>
              <a:srgbClr val="C85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76872" y="3090672"/>
            <a:ext cx="0" cy="896112"/>
          </a:xfrm>
          <a:prstGeom prst="line">
            <a:avLst/>
          </a:prstGeom>
          <a:ln w="25400">
            <a:solidFill>
              <a:srgbClr val="C85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SIMULATED teaching illustrations—not dataset samples or model predictions.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S7 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Models consume representations, not file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Your input contract is as important as your algorithm.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Rows x features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numeric matrix + schema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or supported categorical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TF-IDF sparse vectors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OR token IDs + attention mask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Engineered feature vectors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OR pixel tensors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OR pretrained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S7 S9 S14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The honest model-development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Fit on training data. Choose on validation. Report on untouched test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AUDIT +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Labels, groups,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Train preprocessing +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Validation: model +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Test once; inspect failures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the business question connected to every technical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Choose a shortlist, not a universal winner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Start with data type; then consider labels, cost, and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42232" y="1819656"/>
            <a:ext cx="3886200" cy="667512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1947672"/>
            <a:ext cx="3566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What is the input type?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304288" y="2505456"/>
            <a:ext cx="3776472" cy="420624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926080"/>
            <a:ext cx="3511296" cy="15087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3145536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3145536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13547"/>
                </a:solidFill>
                <a:latin typeface="Aptos"/>
              </a:defRPr>
            </a:pPr>
            <a:r>
              <a:t>Logistic + tree ensemble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80759" y="2505456"/>
            <a:ext cx="1" cy="420624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25112" y="2926080"/>
            <a:ext cx="3511296" cy="15087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3090672"/>
            <a:ext cx="3145536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685032"/>
            <a:ext cx="3145536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13547"/>
                </a:solidFill>
                <a:latin typeface="Aptos"/>
              </a:defRPr>
            </a:pPr>
            <a:r>
              <a:t>TF-IDF linear + transformer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505456"/>
            <a:ext cx="3776472" cy="420624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01583" y="2926080"/>
            <a:ext cx="3511296" cy="15087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3090672"/>
            <a:ext cx="3145536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3685032"/>
            <a:ext cx="3145536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13547"/>
                </a:solidFill>
                <a:latin typeface="Aptos"/>
              </a:defRPr>
            </a:pPr>
            <a:r>
              <a:t>Features + pretrained encoder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Then compare: label volume | error cost | interpretability | latency |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S2 S6 S9 S12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Logistic regression: a transparent first challenger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 linear score becomes a class probability—not an ordinary regression line.</a:t>
            </a:r>
          </a:p>
        </p:txBody>
      </p:sp>
      <p:pic>
        <p:nvPicPr>
          <p:cNvPr id="6" name="Picture 5" descr="sigm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42414"/>
            <a:ext cx="6492239" cy="30657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874519"/>
            <a:ext cx="4297680" cy="34290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39319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E8B"/>
                </a:solidFill>
                <a:latin typeface="Aptos"/>
              </a:defRPr>
            </a:pPr>
            <a:r>
              <a:t>z = b + w dot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807208"/>
            <a:ext cx="3931920" cy="21031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 = 1 / (1 + exp(-z))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Train with log loss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Choose a threshold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Scale / encode / impute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Prediction: probability. Action: thresholded label. Neither implies causation.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S13 S10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Decision trees: learn a sequence of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Nonlinear rules can emerge without scaling the feature axes.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560320" y="2560320"/>
            <a:ext cx="3246120" cy="68580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2560320"/>
            <a:ext cx="3246120" cy="68580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965960" y="3977639"/>
            <a:ext cx="594360" cy="612649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60320" y="3977639"/>
            <a:ext cx="2468880" cy="612649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1828800"/>
            <a:ext cx="2743200" cy="77724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24688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Texture score &gt; 0.6?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246120"/>
            <a:ext cx="2743200" cy="77724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24688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Edge density &gt; 0.4?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246120"/>
            <a:ext cx="2743200" cy="777240"/>
          </a:xfrm>
          <a:prstGeom prst="roundRect">
            <a:avLst/>
          </a:prstGeom>
          <a:solidFill>
            <a:srgbClr val="C85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3410712"/>
            <a:ext cx="24688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Likely defect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90288"/>
            <a:ext cx="2743200" cy="77724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24688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Likely normal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590288"/>
            <a:ext cx="2743200" cy="777240"/>
          </a:xfrm>
          <a:prstGeom prst="roundRect">
            <a:avLst/>
          </a:prstGeom>
          <a:solidFill>
            <a:srgbClr val="C85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4754879"/>
            <a:ext cx="24688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Inspect further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816352"/>
            <a:ext cx="9144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87E8B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816352"/>
            <a:ext cx="9144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C85825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Illustrative rules only. Limit tree depth and verify held-out performance.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Random forest versus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Many independent trees reduce variance; sequential trees improve 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31536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5102351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5102351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Different samples + feature subsets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Aggregate many trees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 robust nonlinear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31536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5935" y="2011680"/>
            <a:ext cx="5102351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5" y="2852928"/>
            <a:ext cx="5102351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Add trees sequentially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Follow the remaining loss gradient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 strong tabular 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Today's practical tabular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These are strong candidates—not a global ranking.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Tool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consider it?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you still configure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XGBoost (trees)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Boosting; learned missing-value routes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Categorical mode, tuning, memory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LightGBM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Histogram boosting; efficient large-table candidate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Category declarations; leaf complexity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CatBoost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Native categorical-feature processing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Declare categories; missing-category policy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HistGradientBoosting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scikit-learn boosting; missing values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Supported category dtype/settings; tuning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Accessible nonlinear comparison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Depth, leaf size, estimator input support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Exact library support varies. Validate the pinned estimator and its input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S2 S3 S4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k-NN and SVM: geometry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If distances or margins drive the model, scale and representation matter.</a:t>
            </a:r>
          </a:p>
        </p:txBody>
      </p:sp>
      <p:pic>
        <p:nvPicPr>
          <p:cNvPr id="6" name="Picture 5" descr="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410" y="1828800"/>
            <a:ext cx="9410700" cy="35661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k-NN: meaningful distances | Linear SVM: sparse features | Kernel SVM: modest data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Text baselines are not obsolete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TF-IDF + a linear classifier can be fast, useful, and auditable.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A support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Words / n-grams -&gt; TF-IDF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Logistic / linear SVM / 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Billing / delivery / refund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the business question connected to every technical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S9 S14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Images: engineered features, CNNs, or transformers?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Representation choice can matter more than the classifier at the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ENGINEERED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Color / texture / edges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Small feature matrix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Fast classical baselines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ResNet / EfficientNet families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Local filters + learned features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Image tensors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VISION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Patches + attention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Image tensors through processor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Pretrained checkpoint recommended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S7 S17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Transfer learning: borrow features, learn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Start with a frozen encoder; fine-tune only if validation justifies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Checkpoint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Pretrained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Task-specific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Our labels, not old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the business question connected to every technical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Modern foundation models: useful, not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Zero-shot is a hypothesis to test—not a substitute for labeled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PRETRAINED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Train a small classifier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Reuse a representation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Validate domain 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CLIP-STYLE 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Compare image/text embeddings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Candidate label prompts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Test prompt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TASK 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Adapt to labeled examples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Image or text transformers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Budget compute + monitor overfit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S8 S9 S11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What can an algorithm handle for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Built-in capabilities reduce work; they do not remove responsibility.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Capability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Helpful candidate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Still our responsibility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Nonlinear interactions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Trees / ensembles / neural models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Enough examples; regularization; valid labels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Numeric missing values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Supported boosting estimators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Meaning of missingness; sentinels; drift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Categorical representation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CatBoost / configured categorical boosting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Schema, missing categories, unseen values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Small labeled image set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Pretrained encoder / transfer learning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Domain evaluation; split; image resolution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Imbalanced classes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Weights / sampling / threshold tools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Rare-class metrics; costs; probability checks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Exact library support varies. Validate the pinned estimator and its input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S2 S3 S4 S5 S6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Preprocessing depends on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Required input preparation is not the same as optional optimization.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Candidate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input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Usually prepare first</a:t>
                      </a:r>
                    </a:p>
                  </a:txBody>
                  <a:tcPr marL="109728" marR="109728" marT="82296" marB="36576">
                    <a:solidFill>
                      <a:srgbClr val="12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Logistic / SVM / k-NN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Numeric dense or supported sparse features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Encode; impute; scale numeric features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Tree / random forest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Numeric or supported encoded features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Encode as needed; validate NaN support; no usual scaling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Categorical boosting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Declared categories + numerical features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Library-specific types; missing/unseen policy; no usual scaling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Multinomial Naive Bayes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Nonnegative counts / common TF-IDF vectors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Train vocabulary; retain sparse format; no centering</a:t>
                      </a:r>
                    </a:p>
                  </a:txBody>
                  <a:tcPr marL="109728" marR="109728" marT="8229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Pretrained CNN / ViT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Pixel tensors matching checkpoint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3547"/>
                          </a:solidFill>
                          <a:latin typeface="Aptos"/>
                        </a:defRPr>
                      </a:pPr>
                      <a:r>
                        <a:t>Decode; channels; size; dtype/range; checkpoint normalization</a:t>
                      </a:r>
                    </a:p>
                  </a:txBody>
                  <a:tcPr marL="109728" marR="109728" marT="82296" marB="3657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Exact library support varies. Validate the pinned estimator and its input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S3 S6 S12 S13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A reusable tabular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Learn the preparation once—from training rows—and reuse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38528"/>
            <a:ext cx="4206240" cy="1298448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840480" cy="3931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NUMERIC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42616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13547"/>
                </a:solidFill>
                <a:latin typeface="Aptos"/>
              </a:defRPr>
            </a:pPr>
            <a:r>
              <a:t>Train-fitted imputer -&gt; scaler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578608"/>
            <a:ext cx="1280160" cy="950976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886200"/>
            <a:ext cx="4206240" cy="1298448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050791"/>
            <a:ext cx="3840480" cy="3931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90288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13547"/>
                </a:solidFill>
                <a:latin typeface="Aptos"/>
              </a:defRPr>
            </a:pPr>
            <a:r>
              <a:t>Missing policy -&gt; encoder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120640" y="3529584"/>
            <a:ext cx="1280160" cy="996696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2871216"/>
            <a:ext cx="2377440" cy="1298448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127248"/>
            <a:ext cx="201168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JOIN</a:t>
            </a:r>
          </a:p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3529584"/>
            <a:ext cx="457200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2871216"/>
            <a:ext cx="2331720" cy="129844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108960"/>
            <a:ext cx="1965960" cy="8412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FIT</a:t>
            </a:r>
          </a:p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classifier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Common logistic workflow: ColumnTransformer -&gt; Pipeline -&gt; cross-validation.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Text preprocessing: keep the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Choose either a vocabulary pipeline or the checkpoint's tokenizer.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TF-IDF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Learn vocabulary on train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Consider n-grams + negation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Choose stop words deliberately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TRANSFORMER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Use matching tokenizer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Padding + attention mask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Explicit truncation / chunking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BOTH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Audit language + duplicates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Protect sensitive content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Keep document groups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S9 S14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Messy images: audit before you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Separate the real defect from the way the camera captured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SCRATCH?</a:t>
            </a:r>
          </a:p>
        </p:txBody>
      </p:sp>
      <p:pic>
        <p:nvPicPr>
          <p:cNvPr id="8" name="Picture 7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7" y="2670048"/>
            <a:ext cx="3284621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Target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GLARE?</a:t>
            </a:r>
          </a:p>
        </p:txBody>
      </p:sp>
      <p:pic>
        <p:nvPicPr>
          <p:cNvPr id="12" name="Picture 11" descr="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49" y="2670048"/>
            <a:ext cx="3284621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Acquisition variation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BLUR?</a:t>
            </a:r>
          </a:p>
        </p:txBody>
      </p:sp>
      <p:pic>
        <p:nvPicPr>
          <p:cNvPr id="16" name="Picture 15" descr="bl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21" y="2670048"/>
            <a:ext cx="3284621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Detail may be missing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SIMULATED teaching illustrations—not dataset samples or model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course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Resizing can erase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Choose resolution and geometry using the smallest important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ORIGINAL</a:t>
            </a:r>
          </a:p>
        </p:txBody>
      </p:sp>
      <p:pic>
        <p:nvPicPr>
          <p:cNvPr id="8" name="Picture 7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7" y="2670048"/>
            <a:ext cx="3284621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Small defect near the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DOWNSAMPLED</a:t>
            </a:r>
          </a:p>
        </p:txBody>
      </p:sp>
      <p:pic>
        <p:nvPicPr>
          <p:cNvPr id="12" name="Picture 11" descr="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49" y="2670048"/>
            <a:ext cx="3284621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Fine detail becomes ambiguous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CENTER CROP</a:t>
            </a:r>
          </a:p>
        </p:txBody>
      </p:sp>
      <p:pic>
        <p:nvPicPr>
          <p:cNvPr id="16" name="Picture 15" descr="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21" y="2670048"/>
            <a:ext cx="3284621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The defect is outside this crop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SIMULATED teaching illustrations—not dataset samples or model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S7 S16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Pixels need 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Shape, color order, dtype, range, and normalization must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DECODE +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RGB vs grayscale / alpha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Orientation + dimensions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Batch: N x C x H x W*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uint8: often 0..255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float: often scaled to 0..1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Check before normalizing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Use documented size + mean/std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Avoid double rescaling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Same contract at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S7 S16 S17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Augmentation: vary the view, preserve the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Simulate plausible acquisition changes—not impossible biology or physics.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ORIGINAL</a:t>
            </a:r>
          </a:p>
        </p:txBody>
      </p:sp>
      <p:pic>
        <p:nvPicPr>
          <p:cNvPr id="8" name="Picture 7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7" y="2670048"/>
            <a:ext cx="3284621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Keep the defect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FLIP</a:t>
            </a:r>
          </a:p>
        </p:txBody>
      </p:sp>
      <p:pic>
        <p:nvPicPr>
          <p:cNvPr id="12" name="Picture 11" descr="f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49" y="2670048"/>
            <a:ext cx="3284621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Valid only if orientation allows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LIGHT VARIATION</a:t>
            </a:r>
          </a:p>
        </p:txBody>
      </p:sp>
      <p:pic>
        <p:nvPicPr>
          <p:cNvPr id="16" name="Picture 15" descr="gl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21" y="2670048"/>
            <a:ext cx="3284621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Check physical plausibility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SIMULATED teaching illustrations—not dataset samples or model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S6 S16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Segmentation: move the image and mask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 one-pixel annotation error can become a misleading training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IMAGE</a:t>
            </a:r>
          </a:p>
        </p:txBody>
      </p:sp>
      <p:pic>
        <p:nvPicPr>
          <p:cNvPr id="8" name="Picture 7" descr="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7" y="2670048"/>
            <a:ext cx="3284621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Pixel intensities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MASK</a:t>
            </a:r>
          </a:p>
        </p:txBody>
      </p:sp>
      <p:pic>
        <p:nvPicPr>
          <p:cNvPr id="12" name="Picture 11" descr="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49" y="2670048"/>
            <a:ext cx="3284621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Integer class 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74519"/>
            <a:ext cx="3511296" cy="347472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218688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OVERLAY</a:t>
            </a:r>
          </a:p>
        </p:txBody>
      </p:sp>
      <p:pic>
        <p:nvPicPr>
          <p:cNvPr id="16" name="Picture 15" descr="over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21" y="2670048"/>
            <a:ext cx="3284621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4645152"/>
            <a:ext cx="3218688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547"/>
                </a:solidFill>
                <a:latin typeface="Aptos"/>
              </a:defRPr>
            </a:pPr>
            <a:r>
              <a:t>Verify spatial 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SIMULATED teaching illustrations—not dataset samples or model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The most dangerous shortcut: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Split by the unit that must be new at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SAME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Adjacent frames / near duplicates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Group by item or capture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FUTURE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Changing process or season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Use a chronological holdout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LEARNED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Scaler / vocabulary / sampler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Fit only in the training 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Rare defects make accuracy deceptive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 99% accurate model can detect none of the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79576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72184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64792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57400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50008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42616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35224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27832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20440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13048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05656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98264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90872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83480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76088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68696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861304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53912" y="1956816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79576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472184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764792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057400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350008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642616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935224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227832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520440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813048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05656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98264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690872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983480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76088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568696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861304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53912" y="2514600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94360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86968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179576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472184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764792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057400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350008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642616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935224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227832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520440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3813048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105656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398264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690872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983480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276088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568696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861304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153912" y="3072384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94360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86968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179576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472184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764792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057400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350008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2642616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935224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3227832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3520440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3813048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4105656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398264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690872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983480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276088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568696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861304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153912" y="3630168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594360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86968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179576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1472184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764792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057400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350008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2642616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935224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227832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520440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3813048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4105656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398264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4690872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4983480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276088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568696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5861304" y="4187952"/>
            <a:ext cx="210312" cy="29260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6153912" y="4187952"/>
            <a:ext cx="210312" cy="292608"/>
          </a:xfrm>
          <a:prstGeom prst="roundRect">
            <a:avLst/>
          </a:prstGeom>
          <a:solidFill>
            <a:srgbClr val="C85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94360" y="5047488"/>
            <a:ext cx="585216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477"/>
                </a:solidFill>
                <a:latin typeface="Aptos"/>
              </a:defRPr>
            </a:pPr>
            <a:r>
              <a:t>100 icons represent 1,000 items; orange = 10 defects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03720" y="1920240"/>
            <a:ext cx="4709160" cy="3364992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114032" y="2148840"/>
            <a:ext cx="429768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300" b="1">
                <a:solidFill>
                  <a:srgbClr val="087E8B"/>
                </a:solidFill>
                <a:latin typeface="Aptos"/>
              </a:defRPr>
            </a:pPr>
            <a:r>
              <a:t>99% accuracy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14032" y="3163824"/>
            <a:ext cx="4297680" cy="1645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13547"/>
                </a:solidFill>
                <a:latin typeface="Aptos"/>
              </a:defRPr>
            </a:pPr>
            <a:r>
              <a:t>Always predict NORMAL</a:t>
            </a:r>
          </a:p>
          <a:p>
            <a:pPr>
              <a:spcAft>
                <a:spcPts val="900"/>
              </a:spcAft>
              <a:defRPr sz="2200" b="0">
                <a:solidFill>
                  <a:srgbClr val="213547"/>
                </a:solidFill>
                <a:latin typeface="Aptos"/>
              </a:defRPr>
            </a:pPr>
            <a:r>
              <a:t>990 correct / 1,000</a:t>
            </a:r>
          </a:p>
          <a:p>
            <a:pPr>
              <a:spcAft>
                <a:spcPts val="900"/>
              </a:spcAft>
              <a:defRPr sz="2200" b="0">
                <a:solidFill>
                  <a:srgbClr val="213547"/>
                </a:solidFill>
                <a:latin typeface="Aptos"/>
              </a:defRPr>
            </a:pPr>
            <a:r>
              <a:t>0 of 10 defects detected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Majority baseline: high accuracy, zero defect recall. Illustration, not measured results.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S10 S11 S15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Confusion matrix: name each kind of mistake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Positive class = defective. Rows are actual; columns are predicted.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83664"/>
            <a:ext cx="5303520" cy="3931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06477"/>
                </a:solidFill>
                <a:latin typeface="Aptos"/>
              </a:defRPr>
            </a:pPr>
            <a:r>
              <a:t>PREDICTED: NORMAL        DEFECT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1371600" cy="1417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06477"/>
                </a:solidFill>
                <a:latin typeface="Aptos"/>
              </a:defRPr>
            </a:pPr>
            <a:r>
              <a:t>ACTUAL</a:t>
            </a:r>
          </a:p>
          <a:p>
            <a:pPr>
              <a:spcAft>
                <a:spcPts val="900"/>
              </a:spcAft>
              <a:defRPr sz="1600" b="1">
                <a:solidFill>
                  <a:srgbClr val="506477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371600" cy="1417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06477"/>
                </a:solidFill>
                <a:latin typeface="Aptos"/>
              </a:defRPr>
            </a:pPr>
            <a:r>
              <a:t>ACTUAL</a:t>
            </a:r>
          </a:p>
          <a:p>
            <a:pPr>
              <a:spcAft>
                <a:spcPts val="900"/>
              </a:spcAft>
              <a:defRPr sz="1600" b="1">
                <a:solidFill>
                  <a:srgbClr val="506477"/>
                </a:solidFill>
                <a:latin typeface="Aptos"/>
              </a:defRPr>
            </a:pPr>
            <a:r>
              <a:t>DEFECT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2560320"/>
            <a:ext cx="2395728" cy="128016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12264" y="2752344"/>
            <a:ext cx="2103120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TN  900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Good item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560320"/>
            <a:ext cx="2395728" cy="1280160"/>
          </a:xfrm>
          <a:prstGeom prst="roundRect">
            <a:avLst/>
          </a:prstGeom>
          <a:solidFill>
            <a:srgbClr val="C85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2752344"/>
            <a:ext cx="2103120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FP  50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Good item flagged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005072"/>
            <a:ext cx="2395728" cy="1280160"/>
          </a:xfrm>
          <a:prstGeom prst="roundRect">
            <a:avLst/>
          </a:prstGeom>
          <a:solidFill>
            <a:srgbClr val="C85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12264" y="4197096"/>
            <a:ext cx="2103120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FN  20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Defect missed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4005072"/>
            <a:ext cx="2395728" cy="128016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0872" y="4197096"/>
            <a:ext cx="2103120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TP  30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Defect caught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2560320"/>
            <a:ext cx="4270248" cy="2724912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2788920"/>
            <a:ext cx="3867912" cy="2148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13547"/>
                </a:solidFill>
                <a:latin typeface="Aptos"/>
              </a:defRPr>
            </a:pPr>
            <a:r>
              <a:t>1,000 items total</a:t>
            </a:r>
          </a:p>
          <a:p>
            <a:pPr>
              <a:spcAft>
                <a:spcPts val="900"/>
              </a:spcAft>
              <a:defRPr sz="2300" b="0">
                <a:solidFill>
                  <a:srgbClr val="213547"/>
                </a:solidFill>
                <a:latin typeface="Aptos"/>
              </a:defRPr>
            </a:pPr>
            <a:r>
              <a:t>50 actual defects</a:t>
            </a:r>
          </a:p>
          <a:p>
            <a:pPr>
              <a:spcAft>
                <a:spcPts val="900"/>
              </a:spcAft>
              <a:defRPr sz="2300" b="0">
                <a:solidFill>
                  <a:srgbClr val="213547"/>
                </a:solidFill>
                <a:latin typeface="Aptos"/>
              </a:defRPr>
            </a:pPr>
            <a:r>
              <a:t>80 predicted alerts</a:t>
            </a:r>
          </a:p>
          <a:p>
            <a:pPr>
              <a:spcAft>
                <a:spcPts val="900"/>
              </a:spcAft>
              <a:defRPr sz="2300" b="0">
                <a:solidFill>
                  <a:srgbClr val="213547"/>
                </a:solidFill>
                <a:latin typeface="Aptos"/>
              </a:defRPr>
            </a:pPr>
            <a:r>
              <a:t>Positive class: DEFECT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Illustrative counts. Always state the positive class and label both axes.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Precision, recall, F1: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Report the metric that matches the action—and show the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TP / (TP + FP)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30 / 80 = 37.5%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Of alerts, how many are real?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TP / (TP + FN)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30 / 50 = 60.0%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Of defects, how many are caught?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2PR / (P + R)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60 / 130 = 46.2%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Harmonic balance, not business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Choose thresholds with business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The same probability model can produce different operating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31536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5102351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THRESHOLD 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5102351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FP = 50; FN = 20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$5 x 50 + $100 x 20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TOTAL: $2,250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31536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5935" y="2011680"/>
            <a:ext cx="5102351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THRESHOLD 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5" y="2852928"/>
            <a:ext cx="5102351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FP = 150; FN = 5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$5 x 150 + $100 x 5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TOTAL: $1,250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Assumed costs: false positive $5; false negative $100. Illustrative validation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Ranking is not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 strong ROC curve does not prove that '80%' means 80%.</a:t>
            </a:r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24" y="1828800"/>
            <a:ext cx="996427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Conceptual curves: ranking, operating threshold, and calibration are different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S11 S15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The error gallery is a diagnostic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Look at mistakes by class, camera, lighting, and defect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Glare mistaken for damage?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Background shortcut?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Incorrect annotation?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FALSE NEGATIVES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Tiny defect lost in resize?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Blur / unusual material?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Label or representation gap?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AFTER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New camera / supplier?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Changing prevalence?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Review queue + drift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Three use cases, three defensible starting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Explain your shortlist before you train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CHURN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Explainable first benchmark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Logistic + boosted trees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Encoding + missingness +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SUPPORT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Fast text routing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TF-IDF linear model; transformer comparison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Vocabulary / tokenizer + document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PRODUCT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Small labeled image set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Features + logistic; pretrained encoder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Resolution + item groups + defect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S2 S6 S9 S13 S14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Our Project 2 bridge: classification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Lecture -&gt; guided image lab -&gt; independent assignment.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Real images +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Features +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Pretrained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17520"/>
            <a:ext cx="292608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8582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2286000"/>
            <a:ext cx="2514600" cy="205740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58568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585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13547"/>
                </a:solidFill>
                <a:latin typeface="Aptos"/>
              </a:defRPr>
            </a:pPr>
            <a:r>
              <a:t>Masks -&gt; segmentation?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14416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the business question connected to every technical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course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Before leaving: defend the whole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Algorithm choice is only one part of the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CHECK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Model accepts NaN.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Does that make the data trustworthy?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8367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CHECK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8367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99% accuracy, rare defects.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What must we ask next?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828800"/>
            <a:ext cx="3553968" cy="3337560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3503" y="2011680"/>
            <a:ext cx="3224784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CHECK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503" y="2852928"/>
            <a:ext cx="3224784" cy="21488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Crop then classify.</a:t>
            </a:r>
          </a:p>
          <a:p>
            <a:pPr>
              <a:spcAft>
                <a:spcPts val="900"/>
              </a:spcAft>
              <a:defRPr sz="2100" b="0">
                <a:solidFill>
                  <a:srgbClr val="213547"/>
                </a:solidFill>
                <a:latin typeface="Aptos"/>
              </a:defRPr>
            </a:pPr>
            <a:r>
              <a:t>Can the label change?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S1 S10 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Sources: algorithms and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Official documentation consulted October 4, 2026; not a benchmark ranking.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37943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3"/>
              </a:rPr>
              <a:t>S2  scikit-learn: ensemble methods and HistGradientBoosting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7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4"/>
              </a:rPr>
              <a:t>S3  CatBoost: categorical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0632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5"/>
              </a:rPr>
              <a:t>S4  XGBoost: missing values and categorical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6"/>
              </a:rPr>
              <a:t>S5  LightGBM: missing and categorical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7"/>
              </a:rPr>
              <a:t>S6  PyTorch: transfer learning for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3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8"/>
              </a:rPr>
              <a:t>S7  Hugging Face: ViT image classification and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36008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9"/>
              </a:rPr>
              <a:t>S8  Hugging Face: CLIP and zero-shot image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02352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10"/>
              </a:rPr>
              <a:t>S9  Hugging Face: transformer text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6869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11"/>
              </a:rPr>
              <a:t>S17  Torchvision: pretrained model families and input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course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18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MSBA 265  /  PROJECT 2  /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43A"/>
                </a:solidFill>
                <a:latin typeface="Aptos"/>
              </a:defRPr>
            </a:pPr>
            <a:r>
              <a:t>Sources: preparation and trustworthy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18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06477"/>
                </a:solidFill>
                <a:latin typeface="Aptos"/>
              </a:defRPr>
            </a:pPr>
            <a:r>
              <a:t>Original diagrams and simulated image illustrations; no third-party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37943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3"/>
              </a:rPr>
              <a:t>S1  scikit-learn: leakage and consistent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7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4"/>
              </a:rPr>
              <a:t>S10  scikit-learn: choosing a decision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0632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5"/>
              </a:rPr>
              <a:t>S11  scikit-learn: probability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6"/>
              </a:rPr>
              <a:t>S12  scikit-learn: SVMs, margins, and computational tradeoffs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7"/>
              </a:rPr>
              <a:t>S13  scikit-learn: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3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8"/>
              </a:rPr>
              <a:t>S14  scikit-learn: text 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36008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9"/>
              </a:rPr>
              <a:t>S15  scikit-learn: classification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02352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87E8B"/>
                </a:solidFill>
                <a:latin typeface="Aptos"/>
              </a:defRPr>
            </a:pPr>
            <a:r>
              <a:rPr>
                <a:hlinkClick r:id="rId10"/>
              </a:rPr>
              <a:t>S16  Torchvision: transforms and joint image/mask transformations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1069848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477"/>
                </a:solidFill>
                <a:latin typeface="Aptos"/>
              </a:defRPr>
            </a:pPr>
            <a:r>
              <a:t>MSBA 265 | Original teaching visuals | Sources: course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E8B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3377</Words>
  <Application>Microsoft Office PowerPoint</Application>
  <PresentationFormat>Widescreen</PresentationFormat>
  <Paragraphs>610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2: Classification - From Pixels to Decisions</dc:title>
  <dc:subject>MSBA 265 classification foundations</dc:subject>
  <dc:creator>MSBA 265 | University of the Pacific</dc:creator>
  <cp:keywords/>
  <dc:description>generated using python-pptx</dc:description>
  <cp:lastModifiedBy>Shyla Solis</cp:lastModifiedBy>
  <cp:revision>3</cp:revision>
  <dcterms:created xsi:type="dcterms:W3CDTF">2013-01-27T09:14:16Z</dcterms:created>
  <dcterms:modified xsi:type="dcterms:W3CDTF">2026-10-07T18:15:48Z</dcterms:modified>
  <cp:category/>
</cp:coreProperties>
</file>