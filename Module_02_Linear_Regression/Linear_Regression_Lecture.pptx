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Simple Linear Regression</a:t>
            </a:r>
          </a:p>
          <a:p>
            <a:pPr>
              <a:defRPr sz="2400">
                <a:solidFill>
                  <a:srgbClr val="1E90FF"/>
                </a:solidFill>
                <a:latin typeface="Arial"/>
              </a:defRPr>
            </a:pPr>
            <a:r>
              <a:t>A Complete Mathematical &amp; Visual Lecture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1. Core Variables &amp;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Independent Variable (X): </a:t>
            </a:r>
            <a:r>
              <a:rPr sz="2000">
                <a:solidFill>
                  <a:srgbClr val="282828"/>
                </a:solidFill>
                <a:latin typeface="Arial"/>
              </a:rPr>
              <a:t>The predictor, explanatory, or feature variable. Used to forecast or explain changes in the outcome.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Dependent Variable (y): </a:t>
            </a:r>
            <a:r>
              <a:rPr sz="2000">
                <a:solidFill>
                  <a:srgbClr val="282828"/>
                </a:solidFill>
                <a:latin typeface="Arial"/>
              </a:rPr>
              <a:t>The response, outcome, or target variable. This is the metric we are trying to predict.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Linear Objective: </a:t>
            </a:r>
            <a:r>
              <a:rPr sz="2000">
                <a:solidFill>
                  <a:srgbClr val="282828"/>
                </a:solidFill>
                <a:latin typeface="Arial"/>
              </a:rPr>
              <a:t>To fit a clean, straight line through raw tracking data that reveals the continuous relationship.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2. The 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D3A"/>
                </a:solidFill>
              </a:defRPr>
            </a:pPr>
            <a:r>
              <a:t>Population (Theoretical) Model</a:t>
            </a:r>
          </a:p>
          <a:p>
            <a:pPr algn="ctr">
              <a:spcBef>
                <a:spcPts val="1000"/>
              </a:spcBef>
              <a:spcAft>
                <a:spcPts val="1000"/>
              </a:spcAft>
              <a:defRPr sz="2800" b="1">
                <a:solidFill>
                  <a:srgbClr val="1E90FF"/>
                </a:solidFill>
              </a:defRPr>
            </a:pPr>
            <a:r>
              <a:t>y = β₀ + β‚X + ε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β₀ (Intercept): </a:t>
            </a:r>
            <a:r>
              <a:rPr sz="2000">
                <a:solidFill>
                  <a:srgbClr val="282828"/>
                </a:solidFill>
                <a:latin typeface="Arial"/>
              </a:rPr>
              <a:t>Population true y-intercept value.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β‚ (Slope): </a:t>
            </a:r>
            <a:r>
              <a:rPr sz="2000">
                <a:solidFill>
                  <a:srgbClr val="282828"/>
                </a:solidFill>
                <a:latin typeface="Arial"/>
              </a:rPr>
              <a:t>True weight/impact of X variable.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ε (Error term): </a:t>
            </a:r>
            <a:r>
              <a:rPr sz="2000">
                <a:solidFill>
                  <a:srgbClr val="282828"/>
                </a:solidFill>
                <a:latin typeface="Arial"/>
              </a:rPr>
              <a:t>Unpredictable noise inherent to 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D3A"/>
                </a:solidFill>
              </a:defRPr>
            </a:pPr>
            <a:r>
              <a:t>Sample (Estimated) Prediction</a:t>
            </a:r>
          </a:p>
          <a:p>
            <a:pPr algn="ctr">
              <a:spcBef>
                <a:spcPts val="1000"/>
              </a:spcBef>
              <a:spcAft>
                <a:spcPts val="1000"/>
              </a:spcAft>
              <a:defRPr sz="2800" b="1">
                <a:solidFill>
                  <a:srgbClr val="1E90FF"/>
                </a:solidFill>
              </a:defRPr>
            </a:pPr>
            <a:r>
              <a:t>ŷ = b₀ + b‚X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ŷ (y-hat): </a:t>
            </a:r>
            <a:r>
              <a:rPr sz="2000">
                <a:solidFill>
                  <a:srgbClr val="282828"/>
                </a:solidFill>
                <a:latin typeface="Arial"/>
              </a:rPr>
              <a:t>The predicted target value calculated for a given input.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b₀ (Sample Intercept): </a:t>
            </a:r>
            <a:r>
              <a:rPr sz="2000">
                <a:solidFill>
                  <a:srgbClr val="282828"/>
                </a:solidFill>
                <a:latin typeface="Arial"/>
              </a:rPr>
              <a:t>Estimated base value when X equals 0.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b‚ (Sample Slope): </a:t>
            </a:r>
            <a:r>
              <a:rPr sz="2000">
                <a:solidFill>
                  <a:srgbClr val="282828"/>
                </a:solidFill>
                <a:latin typeface="Arial"/>
              </a:rPr>
              <a:t>Estimated rise over run multiplier from your sample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3. Ordinary Least Squares (OLS)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Residual / Error (e): </a:t>
            </a:r>
            <a:r>
              <a:rPr sz="2000">
                <a:solidFill>
                  <a:srgbClr val="282828"/>
                </a:solidFill>
                <a:latin typeface="Arial"/>
              </a:rPr>
              <a:t>The direct vertical difference between actual point and predicted line.</a:t>
            </a:r>
          </a:p>
          <a:p>
            <a:pPr algn="ctr">
              <a:defRPr sz="2600" b="1">
                <a:solidFill>
                  <a:srgbClr val="1E90FF"/>
                </a:solidFill>
              </a:defRPr>
            </a:pPr>
            <a:r>
              <a:t>e = y - ŷ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The Optimization Goal: </a:t>
            </a:r>
            <a:r>
              <a:rPr sz="2000">
                <a:solidFill>
                  <a:srgbClr val="282828"/>
                </a:solidFill>
                <a:latin typeface="Arial"/>
              </a:rPr>
              <a:t>OLS computes coefficients b₀ and b‚ to minimize the complete Sum of Squared Residuals (SSR):</a:t>
            </a:r>
          </a:p>
          <a:p>
            <a:pPr algn="ctr">
              <a:defRPr sz="2600" b="1">
                <a:solidFill>
                  <a:srgbClr val="1E90FF"/>
                </a:solidFill>
              </a:defRPr>
            </a:pPr>
            <a:r>
              <a:t>Minimize SSR = ∑ (y - ŷ)²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4. Practice Problem: Hours vs.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Let's work through a sample dataset tracing Hours Studied (X) against Exam Scores (y).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2743200"/>
          <a:ext cx="577900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Hours Studied (X)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Actual Exam Score (y)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Step 1: Calculate Sample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Mean of X (x̄): </a:t>
            </a:r>
            <a:r>
              <a:rPr sz="2000">
                <a:solidFill>
                  <a:srgbClr val="282828"/>
                </a:solidFill>
                <a:latin typeface="Arial"/>
              </a:rPr>
              <a:t>x̄ = ∑X / n = (1 + 3 + 5 + 8 + 10) / 5 = 27 / 5 = 5.4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Mean of y (ȳ): </a:t>
            </a:r>
            <a:r>
              <a:rPr sz="2000">
                <a:solidFill>
                  <a:srgbClr val="282828"/>
                </a:solidFill>
                <a:latin typeface="Arial"/>
              </a:rPr>
              <a:t>ȳ = ∑y / n = (45 + 55 + 56 + 66 + 68) / 5 = 290 / 5 = 58.0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Step 2: Compute Covariance Numerator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 - x̄ (X - 5.4)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 - ȳ (y - 58.0)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(X - x̄)(y - ȳ)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46.0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∑ = 27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∑ = 290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∑ = 132.0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Step 3: Compute Variance Denominator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 - x̄ (X - 5.4)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(X - x̄)² Calculation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(X - x̄)² Value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(-4.4)²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19.36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(-2.4)²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-0.4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(-0.4)²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(2.6)²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6.76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(4.6)²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282828"/>
                          </a:solidFill>
                        </a:defRPr>
                      </a:pPr>
                      <a:r>
                        <a:t>21.16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∑ = 27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B1D3A"/>
                          </a:solidFill>
                        </a:defRPr>
                      </a:pPr>
                      <a:r>
                        <a:t>∑ = 53.20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Step 4: Solve for b‚ and b₀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Calculate Slope (b‚): </a:t>
            </a:r>
            <a:r>
              <a:rPr sz="2000">
                <a:solidFill>
                  <a:srgbClr val="282828"/>
                </a:solidFill>
                <a:latin typeface="Arial"/>
              </a:rPr>
              <a:t>b‚ = ∑((X - x̄)(y - ȳ)) / ∑(X - x̄)²</a:t>
            </a:r>
          </a:p>
          <a:p>
            <a:pPr algn="ctr">
              <a:spcAft>
                <a:spcPts val="2000"/>
              </a:spcAft>
              <a:defRPr sz="2400" b="1">
                <a:solidFill>
                  <a:srgbClr val="1E90FF"/>
                </a:solidFill>
              </a:defRPr>
            </a:pPr>
            <a:r>
              <a:t>b‚ = 132.0 / 53.20 = 2.4812 ≈ 2.48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B1D3A"/>
                </a:solidFill>
                <a:latin typeface="Arial"/>
              </a:rPr>
              <a:t>Calculate Intercept (b₀): </a:t>
            </a:r>
            <a:r>
              <a:rPr sz="2000">
                <a:solidFill>
                  <a:srgbClr val="282828"/>
                </a:solidFill>
                <a:latin typeface="Arial"/>
              </a:rPr>
              <a:t>b₀ = ȳ - b‚x̄</a:t>
            </a:r>
          </a:p>
          <a:p>
            <a:pPr algn="ctr">
              <a:defRPr sz="2400" b="1">
                <a:solidFill>
                  <a:srgbClr val="1E90FF"/>
                </a:solidFill>
              </a:defRPr>
            </a:pPr>
            <a:r>
              <a:t>b₀ = 58.0 - (2.4812 × 5.4) = 58.0 - 13.398 = 44.602 ≈ 44.60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Final Regression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522" y="1645920"/>
            <a:ext cx="9012024" cy="254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2800" b="1">
                <a:solidFill>
                  <a:srgbClr val="0B1D3A"/>
                </a:solidFill>
              </a:defRPr>
            </a:pPr>
            <a:r>
              <a:rPr dirty="0"/>
              <a:t>Our Prediction Equation: ŷ = 44.60 + 2.48X</a:t>
            </a:r>
          </a:p>
          <a:p>
            <a:pPr>
              <a:spcAft>
                <a:spcPts val="1400"/>
              </a:spcAft>
            </a:pPr>
            <a:r>
              <a:rPr sz="2000" b="1" dirty="0">
                <a:solidFill>
                  <a:srgbClr val="0B1D3A"/>
                </a:solidFill>
                <a:latin typeface="Arial"/>
              </a:rPr>
              <a:t>Base Score (Intercept = 44.60): </a:t>
            </a:r>
            <a:r>
              <a:rPr sz="2000" dirty="0">
                <a:solidFill>
                  <a:srgbClr val="282828"/>
                </a:solidFill>
                <a:latin typeface="Arial"/>
              </a:rPr>
              <a:t>If a student puts in 0 study hours, their baseline expected exam score is 44.60%.</a:t>
            </a:r>
          </a:p>
          <a:p>
            <a:pPr>
              <a:spcAft>
                <a:spcPts val="1400"/>
              </a:spcAft>
            </a:pPr>
            <a:r>
              <a:rPr sz="2000" b="1" dirty="0">
                <a:solidFill>
                  <a:srgbClr val="0B1D3A"/>
                </a:solidFill>
                <a:latin typeface="Arial"/>
              </a:rPr>
              <a:t>Marginal Return (Slope = 2.48): </a:t>
            </a:r>
            <a:r>
              <a:rPr sz="2000" dirty="0">
                <a:solidFill>
                  <a:srgbClr val="282828"/>
                </a:solidFill>
                <a:latin typeface="Arial"/>
              </a:rPr>
              <a:t>For every single additional hour spent studying, a student's score increases by an average of 2.48 percentage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672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shyla</dc:creator>
  <cp:keywords/>
  <dc:description>generated using python-pptx</dc:description>
  <cp:lastModifiedBy>Shyla Solis</cp:lastModifiedBy>
  <cp:revision>2</cp:revision>
  <dcterms:created xsi:type="dcterms:W3CDTF">2013-01-27T09:14:16Z</dcterms:created>
  <dcterms:modified xsi:type="dcterms:W3CDTF">2026-09-08T21:09:44Z</dcterms:modified>
  <cp:category/>
</cp:coreProperties>
</file>